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2" r:id="rId7"/>
    <p:sldId id="260" r:id="rId8"/>
    <p:sldId id="261" r:id="rId9"/>
    <p:sldId id="272" r:id="rId10"/>
    <p:sldId id="273" r:id="rId11"/>
    <p:sldId id="265" r:id="rId12"/>
    <p:sldId id="283" r:id="rId13"/>
    <p:sldId id="266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68" r:id="rId22"/>
    <p:sldId id="267" r:id="rId23"/>
    <p:sldId id="269" r:id="rId24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1pPr>
    <a:lvl2pPr marL="0" lvl="1" indent="4572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2pPr>
    <a:lvl3pPr marL="0" lvl="2" indent="9144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3pPr>
    <a:lvl4pPr marL="0" lvl="3" indent="13716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4pPr>
    <a:lvl5pPr marL="0" lvl="4" indent="18288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5pPr>
    <a:lvl6pPr marL="2286000" lvl="5" indent="18288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6pPr>
    <a:lvl7pPr marL="2743200" lvl="6" indent="18288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7pPr>
    <a:lvl8pPr marL="3200400" lvl="7" indent="18288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8pPr>
    <a:lvl9pPr marL="3657600" lvl="8" indent="18288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cs typeface="+mn-cs"/>
        <a:sym typeface="Calibri" panose="020F050202020403020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3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658" y="67"/>
      </p:cViewPr>
      <p:guideLst>
        <p:guide orient="horz" pos="2206"/>
        <p:guide pos="38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7" cy="45007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Slide Image Placeholder 20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0" name="Text Placeholder 20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en-US" altLang="zh-CN"/>
              <a:t>Click to edit Template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1pPr>
    <a:lvl2pPr marL="0" lvl="1" indent="2286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2pPr>
    <a:lvl3pPr marL="0" lvl="2" indent="4572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3pPr>
    <a:lvl4pPr marL="0" lvl="3" indent="6858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4pPr>
    <a:lvl5pPr marL="0" lvl="4" indent="9144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5pPr>
    <a:lvl6pPr marL="2286000" lvl="5" indent="9144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6pPr>
    <a:lvl7pPr marL="2743200" lvl="6" indent="9144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7pPr>
    <a:lvl8pPr marL="3200400" lvl="7" indent="9144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8pPr>
    <a:lvl9pPr marL="3657600" lvl="8" indent="914400" algn="l" defTabSz="914400" rtl="0" eaLnBrk="1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rgbClr val="000000"/>
        </a:solidFill>
        <a:latin typeface="Calibri" panose="020F0502020204030204" charset="0"/>
        <a:ea typeface="Calibri" panose="020F0502020204030204" charset="0"/>
        <a:sym typeface="Calibri" panose="020F0502020204030204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Title 102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ctr" anchorCtr="0">
            <a:normAutofit/>
          </a:bodyPr>
          <a:lstStyle/>
          <a:p>
            <a:pPr lvl="0"/>
            <a:r>
              <a:rPr lang="en-US" altLang="zh-CN"/>
              <a:t>Click to edit Template title style</a:t>
            </a:r>
            <a:endParaRPr lang="en-US" altLang="zh-CN"/>
          </a:p>
        </p:txBody>
      </p:sp>
      <p:sp>
        <p:nvSpPr>
          <p:cNvPr id="1026" name="Text Placeholder 1025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t" anchorCtr="0">
            <a:normAutofit/>
          </a:bodyPr>
          <a:lstStyle/>
          <a:p>
            <a:pPr lvl="0"/>
            <a:r>
              <a:rPr lang="en-US" altLang="zh-CN"/>
              <a:t>Click to edit Template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7" name="Slide Number Placeholder 1026"/>
          <p:cNvSpPr>
            <a:spLocks noGrp="1"/>
          </p:cNvSpPr>
          <p:nvPr>
            <p:ph type="sldNum" sz="quarter" idx="2"/>
          </p:nvPr>
        </p:nvSpPr>
        <p:spPr>
          <a:xfrm>
            <a:off x="11095038" y="6413500"/>
            <a:ext cx="257175" cy="249238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45720" tIns="45720" rIns="45720" bIns="45720" anchor="ctr" anchorCtr="0"/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>
                <a:latin typeface="Calibri" panose="020F0502020204030204" charset="0"/>
                <a:ea typeface="+mn-ea"/>
              </a:rPr>
            </a:fld>
            <a:endParaRPr lang="zh-CN" altLang="en-US">
              <a:latin typeface="Calibri" panose="020F0502020204030204" charset="0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0">
        <a:lnSpc>
          <a:spcPct val="9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rgbClr val="000000"/>
          </a:solidFill>
          <a:latin typeface="+mj-lt"/>
          <a:ea typeface="+mj-ea"/>
          <a:cs typeface="+mj-cs"/>
          <a:sym typeface="Calibri Light" panose="020F0302020204030204" charset="0"/>
        </a:defRPr>
      </a:lvl1pPr>
    </p:titleStyle>
    <p:bodyStyle>
      <a:lvl1pPr marL="228600" lvl="0" indent="-2286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723900" lvl="1" indent="-2667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233805" lvl="2" indent="-319405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727200" lvl="3" indent="-3556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184400" lvl="4" indent="-3556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lvl="5" indent="-2286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971800" lvl="6" indent="-2286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429000" lvl="7" indent="-2286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886200" lvl="8" indent="-228600" algn="l" defTabSz="914400" rtl="0" eaLnBrk="1" fontAlgn="base" latinLnBrk="0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lvl1pPr marL="0" lvl="0" indent="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0" lvl="1" indent="4572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2pPr>
      <a:lvl3pPr marL="0" lvl="2" indent="9144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3pPr>
      <a:lvl4pPr marL="0" lvl="3" indent="13716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4pPr>
      <a:lvl5pPr marL="0" lvl="4" indent="18288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5pPr>
      <a:lvl6pPr marL="2286000" lvl="5" indent="18288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6pPr>
      <a:lvl7pPr marL="2743200" lvl="6" indent="18288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7pPr>
      <a:lvl8pPr marL="3200400" lvl="7" indent="18288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8pPr>
      <a:lvl9pPr marL="3657600" lvl="8" indent="1828800" algn="l" defTabSz="914400" rtl="0" eaLnBrk="1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rgbClr val="000000"/>
          </a:solidFill>
          <a:latin typeface="Calibri" panose="020F0502020204030204" charset="0"/>
          <a:ea typeface="Calibri" panose="020F0502020204030204" charset="0"/>
          <a:cs typeface="+mn-cs"/>
          <a:sym typeface="Calibri" panose="020F0502020204030204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rive.google.com/file/d/1TlyLS4BK98wN9UUWN3zDzLeh2W1tYxAY/view?usp=drive_link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Subtitle 3072" descr="Subtitle 2"/>
          <p:cNvSpPr>
            <a:spLocks noGrp="1"/>
          </p:cNvSpPr>
          <p:nvPr>
            <p:ph type="subTitle" sz="quarter" idx="1"/>
          </p:nvPr>
        </p:nvSpPr>
        <p:spPr>
          <a:xfrm>
            <a:off x="6980238" y="4422775"/>
            <a:ext cx="4932362" cy="2201863"/>
          </a:xfrm>
        </p:spPr>
        <p:txBody>
          <a:bodyPr vert="horz" wrap="square" lIns="45720" tIns="45720" rIns="45720" bIns="45720" anchor="t" anchorCtr="0">
            <a:normAutofit/>
          </a:bodyPr>
          <a:lstStyle/>
          <a:p>
            <a:pPr algn="l" defTabSz="914400">
              <a:buClrTx/>
              <a:buSzTx/>
              <a:buFontTx/>
            </a:pPr>
            <a:r>
              <a:rPr lang="en-US" altLang="zh-CN" sz="2000" b="1" kern="1200" baseline="0"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Times New Roman" panose="02020603050405020304" charset="0"/>
              </a:rPr>
              <a:t>Students Name</a:t>
            </a:r>
            <a:r>
              <a:rPr lang="en-US" altLang="zh-CN" sz="2000" kern="1200" baseline="0"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Times New Roman" panose="02020603050405020304" charset="0"/>
              </a:rPr>
              <a:t>:</a:t>
            </a:r>
            <a:endParaRPr lang="en-US" altLang="zh-CN" sz="2000" kern="1200" baseline="0"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algn="l" defTabSz="914400">
              <a:buClrTx/>
              <a:buSzTx/>
              <a:buFontTx/>
            </a:pPr>
            <a:r>
              <a:rPr lang="en-US" altLang="zh-CN" sz="2000" kern="1200" baseline="0"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Times New Roman" panose="02020603050405020304" charset="0"/>
              </a:rPr>
              <a:t>Ved Gunjal. (202402040002)</a:t>
            </a:r>
            <a:endParaRPr lang="en-US" altLang="zh-CN" sz="2000" kern="1200" baseline="0"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algn="l" defTabSz="914400">
              <a:buClrTx/>
              <a:buSzTx/>
              <a:buFontTx/>
            </a:pPr>
            <a:r>
              <a:rPr lang="en-US" altLang="zh-CN" sz="2000" kern="1200" baseline="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Yash Chavan. (202402040004)</a:t>
            </a:r>
            <a:endParaRPr lang="en-US" altLang="zh-CN" sz="2000" kern="1200" baseline="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algn="l" defTabSz="914400">
              <a:buClrTx/>
              <a:buSzTx/>
              <a:buFontTx/>
            </a:pPr>
            <a:r>
              <a:rPr lang="en-US" altLang="zh-CN" sz="2000" kern="1200" baseline="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Hari Sharma.(202402040014)</a:t>
            </a:r>
            <a:endParaRPr lang="en-US" altLang="zh-CN" sz="2000" kern="1200" baseline="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algn="l" defTabSz="914400">
              <a:buClrTx/>
              <a:buSzTx/>
              <a:buFontTx/>
            </a:pPr>
            <a:r>
              <a:rPr lang="en-US" altLang="zh-CN" sz="2000" kern="1200" baseline="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Harshali Sable.(</a:t>
            </a:r>
            <a:r>
              <a:rPr lang="en-US" altLang="en-US" sz="2000" kern="1200" baseline="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202402040020</a:t>
            </a:r>
            <a:r>
              <a:rPr lang="en-US" altLang="zh-CN" sz="2000" kern="1200" baseline="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)</a:t>
            </a:r>
            <a:endParaRPr lang="en-US" altLang="zh-CN" sz="2000" kern="1200" baseline="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3074" name="Text Box 3073" descr="TextBox 3"/>
          <p:cNvSpPr txBox="1"/>
          <p:nvPr/>
        </p:nvSpPr>
        <p:spPr>
          <a:xfrm>
            <a:off x="747713" y="2019300"/>
            <a:ext cx="10650537" cy="58356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t" anchorCtr="0">
            <a:spAutoFit/>
          </a:bodyPr>
          <a:lstStyle/>
          <a:p>
            <a:pPr algn="ctr">
              <a:buNone/>
            </a:pPr>
            <a:r>
              <a:rPr lang="en-US" altLang="zh-CN" sz="3200" b="1" baseline="0">
                <a:solidFill>
                  <a:srgbClr val="333F50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Presentation for CIS Mini Project </a:t>
            </a:r>
            <a:endParaRPr lang="en-US" altLang="zh-CN" sz="3200" b="1" baseline="0">
              <a:solidFill>
                <a:srgbClr val="333F50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pic>
        <p:nvPicPr>
          <p:cNvPr id="3075" name="Picture 3074" descr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6325" y="341313"/>
            <a:ext cx="4914900" cy="9239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076" name="Text Box 3075" descr="TextBox 1"/>
          <p:cNvSpPr txBox="1"/>
          <p:nvPr/>
        </p:nvSpPr>
        <p:spPr>
          <a:xfrm>
            <a:off x="3679825" y="1346200"/>
            <a:ext cx="4862513" cy="460375"/>
          </a:xfrm>
          <a:prstGeom prst="rect">
            <a:avLst/>
          </a:prstGeom>
          <a:noFill/>
          <a:ln w="12700">
            <a:noFill/>
          </a:ln>
        </p:spPr>
        <p:txBody>
          <a:bodyPr vert="horz" wrap="none" lIns="45720" tIns="45720" rIns="45720" bIns="45720" anchor="t" anchorCtr="0">
            <a:spAutoFit/>
          </a:bodyPr>
          <a:lstStyle/>
          <a:p>
            <a:pPr>
              <a:buNone/>
            </a:pPr>
            <a:r>
              <a:rPr lang="en-US" altLang="zh-CN" sz="2400" b="1" baseline="0">
                <a:solidFill>
                  <a:srgbClr val="2F5597"/>
                </a:solidFill>
                <a:latin typeface="Segoe UI Semibold" panose="020B0702040204020203" charset="0"/>
                <a:ea typeface="+mn-ea"/>
                <a:cs typeface="Segoe UI Semibold" panose="020B0702040204020203" charset="0"/>
                <a:sym typeface="Segoe UI Semibold" panose="020B0702040204020203" charset="0"/>
              </a:rPr>
              <a:t>School of Computer Engineering</a:t>
            </a:r>
            <a:endParaRPr lang="en-US" altLang="zh-CN" sz="2400" b="1" baseline="0">
              <a:solidFill>
                <a:srgbClr val="2F5597"/>
              </a:solidFill>
              <a:latin typeface="Segoe UI Semibold" panose="020B0702040204020203" charset="0"/>
              <a:ea typeface="Segoe UI Semibold" panose="020B0702040204020203" charset="0"/>
              <a:sym typeface="Segoe UI Semibold" panose="020B0702040204020203" charset="0"/>
            </a:endParaRPr>
          </a:p>
        </p:txBody>
      </p:sp>
      <p:sp>
        <p:nvSpPr>
          <p:cNvPr id="3077" name="Text Box 3076" descr="Subtitle 2"/>
          <p:cNvSpPr txBox="1"/>
          <p:nvPr/>
        </p:nvSpPr>
        <p:spPr>
          <a:xfrm>
            <a:off x="619125" y="5176838"/>
            <a:ext cx="3224213" cy="49371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2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Guide :</a:t>
            </a:r>
            <a:r>
              <a:rPr lang="en-US" altLang="zh-CN" sz="22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 Mrs. Neha Hajare.</a:t>
            </a:r>
            <a:endParaRPr lang="en-US" altLang="zh-CN" sz="2200" b="1" baseline="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3078" name="Text Box 3077" descr="TextBox 7"/>
          <p:cNvSpPr txBox="1"/>
          <p:nvPr/>
        </p:nvSpPr>
        <p:spPr>
          <a:xfrm>
            <a:off x="1505585" y="2790190"/>
            <a:ext cx="8750300" cy="76835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t" anchorCtr="0">
            <a:spAutoFit/>
          </a:bodyPr>
          <a:lstStyle/>
          <a:p>
            <a:pPr algn="ctr">
              <a:buNone/>
            </a:pPr>
            <a:r>
              <a:rPr lang="en-US" altLang="zh-CN" sz="4400" baseline="0">
                <a:solidFill>
                  <a:srgbClr val="203864"/>
                </a:solidFill>
                <a:latin typeface="Algerian" panose="04020705040A02060702" charset="0"/>
                <a:ea typeface="Algerian" panose="04020705040A02060702" charset="0"/>
                <a:sym typeface="Algerian" panose="04020705040A02060702" charset="0"/>
              </a:rPr>
              <a:t>Key Stroke Logger</a:t>
            </a:r>
            <a:endParaRPr lang="en-US" altLang="zh-CN" sz="4400" baseline="0">
              <a:solidFill>
                <a:srgbClr val="203864"/>
              </a:solidFill>
              <a:latin typeface="Algerian" panose="04020705040A02060702" charset="0"/>
              <a:ea typeface="Algerian" panose="04020705040A02060702" charset="0"/>
              <a:sym typeface="Algerian" panose="04020705040A02060702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4096" descr="Title 1"/>
          <p:cNvSpPr>
            <a:spLocks noGrp="1"/>
          </p:cNvSpPr>
          <p:nvPr>
            <p:ph type="title"/>
          </p:nvPr>
        </p:nvSpPr>
        <p:spPr/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Index</a:t>
            </a:r>
            <a:endParaRPr lang="en-US" altLang="zh-CN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4098" name="Text Placeholder 4097" descr="Content Placeholder 1"/>
          <p:cNvSpPr>
            <a:spLocks noGrp="1"/>
          </p:cNvSpPr>
          <p:nvPr>
            <p:ph type="body" idx="1"/>
          </p:nvPr>
        </p:nvSpPr>
        <p:spPr/>
        <p:txBody>
          <a:bodyPr vert="horz" wrap="square" lIns="45720" tIns="45720" rIns="45720" bIns="45720" anchor="t" anchorCtr="0">
            <a:normAutofit/>
          </a:bodyPr>
          <a:lstStyle/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Introduction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Literature survey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Problem Statement and Objectives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Proposed Block Diagram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Methodology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References</a:t>
            </a:r>
            <a:endParaRPr lang="en-US" altLang="zh-CN" b="1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5120" descr="Title 1"/>
          <p:cNvSpPr>
            <a:spLocks noGrp="1"/>
          </p:cNvSpPr>
          <p:nvPr>
            <p:ph type="title"/>
          </p:nvPr>
        </p:nvSpPr>
        <p:spPr>
          <a:xfrm>
            <a:off x="838200" y="347663"/>
            <a:ext cx="10515600" cy="1325562"/>
          </a:xfrm>
        </p:spPr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Introduction</a:t>
            </a:r>
            <a:endParaRPr lang="en-US" altLang="zh-CN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5122" name="Text Placeholder 5121" descr="Content Placeholder 3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6227445" cy="4351655"/>
          </a:xfrm>
        </p:spPr>
        <p:txBody>
          <a:bodyPr vert="horz" wrap="square" lIns="45720" tIns="45720" rIns="45720" bIns="45720" anchor="t" anchorCtr="0">
            <a:normAutofit lnSpcReduction="20000"/>
          </a:bodyPr>
          <a:lstStyle/>
          <a:p>
            <a:pPr marL="0" indent="0">
              <a:buClrTx/>
              <a:buSzPct val="100000"/>
              <a:buFont typeface="Arial" panose="020B0604020202020204" pitchFamily="34" charset="0"/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• Traditional keylogging tools are risky and often misused, which creates the need for a safe and controlled logging environment.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marL="136525" indent="-136525">
              <a:buClrTx/>
              <a:buSzPct val="100000"/>
              <a:buFont typeface="Arial" panose="020B0604020202020204" pitchFamily="34" charset="0"/>
            </a:pP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marL="0" indent="0">
              <a:buClrTx/>
              <a:buSzPct val="100000"/>
              <a:buFont typeface="Arial" panose="020B0604020202020204" pitchFamily="34" charset="0"/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• Secure Logger captures keystrokes ethically and protects them using encryption, hashing, and RSA-based digital signatures.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marL="136525" indent="-136525">
              <a:buClrTx/>
              <a:buSzPct val="100000"/>
              <a:buFont typeface="Arial" panose="020B0604020202020204" pitchFamily="34" charset="0"/>
            </a:pP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marL="0" indent="0">
              <a:buClrTx/>
              <a:buSzPct val="100000"/>
              <a:buFont typeface="Arial" panose="020B0604020202020204" pitchFamily="34" charset="0"/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• The CustomTkinter interface allows users to easily start/stop logging, choose algorithms, and view encrypted or verified logs.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marL="0" indent="0">
              <a:buClrTx/>
              <a:buSzPct val="100000"/>
              <a:buFont typeface="Arial" panose="020B0604020202020204" pitchFamily="34" charset="0"/>
              <a:buNone/>
            </a:pP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  <a:p>
            <a:pPr marL="0" indent="0">
              <a:buClrTx/>
              <a:buSzPct val="100000"/>
              <a:buFont typeface="Arial" panose="020B0604020202020204" pitchFamily="34" charset="0"/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• The system ensures that data cannot be altered or accessed without verification, making it ideal for security learning, research, and digital forensics.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</p:txBody>
      </p:sp>
      <p:pic>
        <p:nvPicPr>
          <p:cNvPr id="3" name="Picture 2" descr="Gemini_Generated_Image_93ozo193ozo193o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795" y="1133475"/>
            <a:ext cx="5077460" cy="50774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6144" descr="Title 3"/>
          <p:cNvSpPr>
            <a:spLocks noGrp="1"/>
          </p:cNvSpPr>
          <p:nvPr>
            <p:ph type="title"/>
          </p:nvPr>
        </p:nvSpPr>
        <p:spPr/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What Is AI Powered Book Marketplace?</a:t>
            </a:r>
            <a:endParaRPr lang="en-US" altLang="zh-CN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6146" name="Text Box 6145" descr="TextBox 5"/>
          <p:cNvSpPr txBox="1"/>
          <p:nvPr/>
        </p:nvSpPr>
        <p:spPr>
          <a:xfrm>
            <a:off x="424815" y="1403350"/>
            <a:ext cx="6162675" cy="473900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t" anchorCtr="0">
            <a:spAutoFit/>
          </a:bodyPr>
          <a:lstStyle/>
          <a:p>
            <a:pPr>
              <a:buSzPct val="100000"/>
              <a:buFont typeface="Arial" panose="020B0604020202020204" pitchFamily="34" charset="0"/>
            </a:pPr>
            <a:r>
              <a:rPr lang="en-US" altLang="en-US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• </a:t>
            </a:r>
            <a:r>
              <a:rPr lang="en-US" altLang="en-US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Safe Keystroke Monitoring:</a:t>
            </a:r>
            <a:endParaRPr lang="en-US" altLang="en-US" sz="1900" b="1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buSzPct val="100000"/>
              <a:buFont typeface="Arial" panose="020B0604020202020204" pitchFamily="34" charset="0"/>
            </a:pPr>
            <a:r>
              <a:rPr lang="en-US" altLang="en-US" sz="18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Secure Logger captures keyboard activity in a controlled and ethical way, mainly for learning, research, and forensic purposes.</a:t>
            </a:r>
            <a:endParaRPr lang="en-US" altLang="en-US" sz="18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 marL="214630" indent="-214630">
              <a:buSzPct val="100000"/>
              <a:buFont typeface="Arial" panose="020B0604020202020204" pitchFamily="34" charset="0"/>
              <a:buChar char="•"/>
            </a:pP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buSzPct val="100000"/>
              <a:buFont typeface="Arial" panose="020B0604020202020204" pitchFamily="34" charset="0"/>
            </a:pPr>
            <a:r>
              <a:rPr lang="en-US" altLang="en-US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• Instant Encryption:</a:t>
            </a: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buSzPct val="100000"/>
              <a:buFont typeface="Arial" panose="020B0604020202020204" pitchFamily="34" charset="0"/>
            </a:pPr>
            <a:r>
              <a:rPr lang="en-US" altLang="en-US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Every keystroke is protected immediately using AES, TripleDES, or RC4 so nothing is saved in plain text.</a:t>
            </a: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 marL="214630" indent="-214630">
              <a:buSzPct val="100000"/>
              <a:buFont typeface="Arial" panose="020B0604020202020204" pitchFamily="34" charset="0"/>
              <a:buChar char="•"/>
            </a:pP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buSzPct val="100000"/>
              <a:buFont typeface="Arial" panose="020B0604020202020204" pitchFamily="34" charset="0"/>
            </a:pPr>
            <a:r>
              <a:rPr lang="en-US" altLang="en-US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• Tamper Detection:</a:t>
            </a: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buSzPct val="100000"/>
              <a:buFont typeface="Arial" panose="020B0604020202020204" pitchFamily="34" charset="0"/>
            </a:pPr>
            <a:r>
              <a:rPr lang="en-US" altLang="en-US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The system uses hashing and RSA digital signatures to ensure that no one can modify or fake the log files.</a:t>
            </a: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 marL="214630" indent="-214630">
              <a:buSzPct val="100000"/>
              <a:buFont typeface="Arial" panose="020B0604020202020204" pitchFamily="34" charset="0"/>
              <a:buChar char="•"/>
            </a:pP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buSzPct val="100000"/>
              <a:buFont typeface="Arial" panose="020B0604020202020204" pitchFamily="34" charset="0"/>
            </a:pPr>
            <a:r>
              <a:rPr lang="en-US" altLang="en-US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• Simple User Interface:</a:t>
            </a: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buSzPct val="100000"/>
              <a:buFont typeface="Arial" panose="020B0604020202020204" pitchFamily="34" charset="0"/>
            </a:pPr>
            <a:r>
              <a:rPr lang="en-US" altLang="en-US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With a clean CustomTkinter GUI, users can easily start or stop logging, choose encryption methods, and safely view encrypted or verified logs.</a:t>
            </a:r>
            <a:endParaRPr lang="en-US" altLang="en-US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</p:txBody>
      </p:sp>
      <p:grpSp>
        <p:nvGrpSpPr>
          <p:cNvPr id="6147" name="Group 6146"/>
          <p:cNvGrpSpPr/>
          <p:nvPr/>
        </p:nvGrpSpPr>
        <p:grpSpPr>
          <a:xfrm>
            <a:off x="8280400" y="1844675"/>
            <a:ext cx="2352675" cy="1150938"/>
            <a:chOff x="-1" y="-1"/>
            <a:chExt cx="2351317" cy="1149534"/>
          </a:xfrm>
        </p:grpSpPr>
        <p:sp>
          <p:nvSpPr>
            <p:cNvPr id="6148" name="Freeform 6147"/>
            <p:cNvSpPr/>
            <p:nvPr/>
          </p:nvSpPr>
          <p:spPr>
            <a:xfrm>
              <a:off x="-1" y="-1"/>
              <a:ext cx="2351317" cy="1149534"/>
            </a:xfrm>
            <a:custGeom>
              <a:avLst/>
              <a:gdLst/>
              <a:ahLst/>
              <a:cxnLst>
                <a:cxn ang="0">
                  <a:pos x="10800" y="10800"/>
                </a:cxn>
                <a:cxn ang="0">
                  <a:pos x="10800" y="10800"/>
                </a:cxn>
                <a:cxn ang="0">
                  <a:pos x="10800" y="10800"/>
                </a:cxn>
                <a:cxn ang="0">
                  <a:pos x="10800" y="10800"/>
                </a:cxn>
              </a:cxnLst>
              <a:rect l="0" t="0" r="0" b="0"/>
              <a:pathLst>
                <a:path w="21600" h="21600">
                  <a:moveTo>
                    <a:pt x="1760" y="0"/>
                  </a:moveTo>
                  <a:lnTo>
                    <a:pt x="21600" y="0"/>
                  </a:lnTo>
                  <a:lnTo>
                    <a:pt x="21600" y="18000"/>
                  </a:lnTo>
                  <a:cubicBezTo>
                    <a:pt x="21600" y="19988"/>
                    <a:pt x="20812" y="21600"/>
                    <a:pt x="19840" y="21600"/>
                  </a:cubicBezTo>
                  <a:lnTo>
                    <a:pt x="0" y="21600"/>
                  </a:lnTo>
                  <a:lnTo>
                    <a:pt x="0" y="3600"/>
                  </a:lnTo>
                  <a:cubicBezTo>
                    <a:pt x="0" y="1612"/>
                    <a:pt x="788" y="0"/>
                    <a:pt x="1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B0CBE9">
                    <a:alpha val="100000"/>
                  </a:srgbClr>
                </a:gs>
                <a:gs pos="50000">
                  <a:srgbClr val="A1C1E5">
                    <a:alpha val="100000"/>
                  </a:srgbClr>
                </a:gs>
                <a:gs pos="100000">
                  <a:srgbClr val="91B9E4">
                    <a:alpha val="100000"/>
                  </a:srgbClr>
                </a:gs>
              </a:gsLst>
              <a:lin ang="5400000"/>
              <a:tileRect/>
            </a:gradFill>
            <a:ln w="6350" cap="flat" cmpd="sng">
              <a:solidFill>
                <a:srgbClr val="5B9BD5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45720" tIns="45720" rIns="45720" bIns="45720" anchor="ctr" anchorCtr="0"/>
            <a:lstStyle/>
            <a:p>
              <a:pPr algn="ctr">
                <a:buNone/>
              </a:pPr>
              <a:endParaRPr baseline="0">
                <a:effectLst>
                  <a:outerShdw blurRad="38100" dist="38100" dir="2700000">
                    <a:srgbClr val="FFFFFF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  <p:sp>
          <p:nvSpPr>
            <p:cNvPr id="6149" name="Text Box 6148"/>
            <p:cNvSpPr txBox="1"/>
            <p:nvPr/>
          </p:nvSpPr>
          <p:spPr>
            <a:xfrm>
              <a:off x="105010" y="390841"/>
              <a:ext cx="2141295" cy="36785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45720" tIns="45720" rIns="45720" bIns="45720" anchor="ctr" anchorCtr="0">
              <a:spAutoFit/>
            </a:bodyPr>
            <a:lstStyle/>
            <a:p>
              <a:pPr algn="ctr">
                <a:buNone/>
              </a:pPr>
              <a:r>
                <a:rPr lang="en-US" altLang="zh-CN" baseline="0">
                  <a:effectLst>
                    <a:outerShdw blurRad="38100" dist="38100" dir="2700000">
                      <a:srgbClr val="C0C0C0"/>
                    </a:outerShdw>
                  </a:effectLst>
                  <a:latin typeface="Calibri" panose="020F0502020204030204" charset="0"/>
                  <a:ea typeface="+mn-ea"/>
                  <a:sym typeface="Calibri" panose="020F0502020204030204" charset="0"/>
                </a:rPr>
                <a:t>Customer</a:t>
              </a:r>
              <a:endParaRPr lang="en-US" altLang="zh-CN" baseline="0"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</p:grpSp>
      <p:grpSp>
        <p:nvGrpSpPr>
          <p:cNvPr id="6150" name="Group 6149"/>
          <p:cNvGrpSpPr/>
          <p:nvPr/>
        </p:nvGrpSpPr>
        <p:grpSpPr>
          <a:xfrm>
            <a:off x="6692900" y="4131310"/>
            <a:ext cx="1587500" cy="922020"/>
            <a:chOff x="0" y="-21276"/>
            <a:chExt cx="1158240" cy="922116"/>
          </a:xfrm>
        </p:grpSpPr>
        <p:sp>
          <p:nvSpPr>
            <p:cNvPr id="6151" name="Rectangles 6150"/>
            <p:cNvSpPr/>
            <p:nvPr/>
          </p:nvSpPr>
          <p:spPr>
            <a:xfrm>
              <a:off x="0" y="-1"/>
              <a:ext cx="1158240" cy="879567"/>
            </a:xfrm>
            <a:prstGeom prst="rect">
              <a:avLst/>
            </a:prstGeom>
            <a:gradFill rotWithShape="0">
              <a:gsLst>
                <a:gs pos="0">
                  <a:srgbClr val="D1D1D1">
                    <a:alpha val="100000"/>
                  </a:srgbClr>
                </a:gs>
                <a:gs pos="50000">
                  <a:srgbClr val="C7C7C7">
                    <a:alpha val="100000"/>
                  </a:srgbClr>
                </a:gs>
                <a:gs pos="100000">
                  <a:srgbClr val="C0C0C0">
                    <a:alpha val="100000"/>
                  </a:srgbClr>
                </a:gs>
              </a:gsLst>
              <a:lin ang="5400000"/>
              <a:tileRect/>
            </a:gradFill>
            <a:ln w="6350" cap="flat" cmpd="sng">
              <a:solidFill>
                <a:srgbClr val="A5A5A5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45720" tIns="45720" rIns="45720" bIns="45720" anchor="ctr" anchorCtr="0"/>
            <a:lstStyle/>
            <a:p>
              <a:pPr algn="ctr">
                <a:buNone/>
              </a:pPr>
              <a:endParaRPr baseline="0">
                <a:effectLst>
                  <a:outerShdw blurRad="38100" dist="38100" dir="2700000">
                    <a:srgbClr val="FFFFFF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  <p:sp>
          <p:nvSpPr>
            <p:cNvPr id="6152" name="Text Box 6151"/>
            <p:cNvSpPr txBox="1"/>
            <p:nvPr/>
          </p:nvSpPr>
          <p:spPr>
            <a:xfrm>
              <a:off x="48895" y="-21276"/>
              <a:ext cx="1060450" cy="92211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45720" tIns="45720" rIns="45720" bIns="45720" anchor="ctr" anchorCtr="0">
              <a:spAutoFit/>
            </a:bodyPr>
            <a:lstStyle/>
            <a:p>
              <a:pPr algn="ctr">
                <a:buNone/>
              </a:pPr>
              <a:r>
                <a:rPr lang="en-US" altLang="zh-CN" baseline="0">
                  <a:effectLst>
                    <a:outerShdw blurRad="38100" dist="38100" dir="2700000">
                      <a:srgbClr val="C0C0C0"/>
                    </a:outerShdw>
                  </a:effectLst>
                  <a:latin typeface="Calibri" panose="020F0502020204030204" charset="0"/>
                  <a:ea typeface="+mn-ea"/>
                  <a:sym typeface="Calibri" panose="020F0502020204030204" charset="0"/>
                </a:rPr>
                <a:t>Book (Genres, Author)</a:t>
              </a:r>
              <a:endParaRPr lang="en-US" altLang="zh-CN" baseline="0"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</p:grpSp>
      <p:grpSp>
        <p:nvGrpSpPr>
          <p:cNvPr id="6153" name="Group 6152"/>
          <p:cNvGrpSpPr/>
          <p:nvPr/>
        </p:nvGrpSpPr>
        <p:grpSpPr>
          <a:xfrm>
            <a:off x="8558529" y="4131310"/>
            <a:ext cx="1753235" cy="879475"/>
            <a:chOff x="-318596" y="-21593"/>
            <a:chExt cx="1752274" cy="879567"/>
          </a:xfrm>
        </p:grpSpPr>
        <p:sp>
          <p:nvSpPr>
            <p:cNvPr id="6154" name="Rectangles 6153"/>
            <p:cNvSpPr/>
            <p:nvPr/>
          </p:nvSpPr>
          <p:spPr>
            <a:xfrm>
              <a:off x="-318596" y="-21593"/>
              <a:ext cx="1752274" cy="879567"/>
            </a:xfrm>
            <a:prstGeom prst="rect">
              <a:avLst/>
            </a:prstGeom>
            <a:gradFill rotWithShape="0">
              <a:gsLst>
                <a:gs pos="0">
                  <a:srgbClr val="D1D1D1">
                    <a:alpha val="100000"/>
                  </a:srgbClr>
                </a:gs>
                <a:gs pos="50000">
                  <a:srgbClr val="C7C7C7">
                    <a:alpha val="100000"/>
                  </a:srgbClr>
                </a:gs>
                <a:gs pos="100000">
                  <a:srgbClr val="C0C0C0">
                    <a:alpha val="100000"/>
                  </a:srgbClr>
                </a:gs>
              </a:gsLst>
              <a:lin ang="5400000"/>
              <a:tileRect/>
            </a:gradFill>
            <a:ln w="6350" cap="flat" cmpd="sng">
              <a:solidFill>
                <a:srgbClr val="A5A5A5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45720" tIns="45720" rIns="45720" bIns="45720" anchor="ctr" anchorCtr="0"/>
            <a:lstStyle/>
            <a:p>
              <a:pPr algn="ctr">
                <a:buNone/>
              </a:pPr>
              <a:endParaRPr baseline="0">
                <a:effectLst>
                  <a:outerShdw blurRad="38100" dist="38100" dir="2700000">
                    <a:srgbClr val="FFFFFF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  <p:sp>
          <p:nvSpPr>
            <p:cNvPr id="6155" name="Text Box 6154"/>
            <p:cNvSpPr txBox="1"/>
            <p:nvPr/>
          </p:nvSpPr>
          <p:spPr>
            <a:xfrm>
              <a:off x="-171991" y="116851"/>
              <a:ext cx="1281362" cy="645227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45720" tIns="45720" rIns="45720" bIns="45720" anchor="ctr" anchorCtr="0">
              <a:spAutoFit/>
            </a:bodyPr>
            <a:lstStyle/>
            <a:p>
              <a:pPr algn="ctr">
                <a:buNone/>
              </a:pPr>
              <a:r>
                <a:rPr lang="en-US" altLang="zh-CN" baseline="0">
                  <a:effectLst>
                    <a:outerShdw blurRad="38100" dist="38100" dir="2700000">
                      <a:srgbClr val="C0C0C0"/>
                    </a:outerShdw>
                  </a:effectLst>
                  <a:latin typeface="Calibri" panose="020F0502020204030204" charset="0"/>
                  <a:ea typeface="+mn-ea"/>
                  <a:sym typeface="Calibri" panose="020F0502020204030204" charset="0"/>
                </a:rPr>
                <a:t>Personalized AI chatbot</a:t>
              </a:r>
              <a:endParaRPr lang="en-US" altLang="zh-CN" baseline="0"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</p:grpSp>
      <p:grpSp>
        <p:nvGrpSpPr>
          <p:cNvPr id="6156" name="Group 6155"/>
          <p:cNvGrpSpPr/>
          <p:nvPr/>
        </p:nvGrpSpPr>
        <p:grpSpPr>
          <a:xfrm>
            <a:off x="10633075" y="4152900"/>
            <a:ext cx="1340485" cy="879475"/>
            <a:chOff x="0" y="-1"/>
            <a:chExt cx="1341588" cy="879567"/>
          </a:xfrm>
        </p:grpSpPr>
        <p:sp>
          <p:nvSpPr>
            <p:cNvPr id="6157" name="Rectangles 6156"/>
            <p:cNvSpPr/>
            <p:nvPr/>
          </p:nvSpPr>
          <p:spPr>
            <a:xfrm>
              <a:off x="0" y="-1"/>
              <a:ext cx="1341588" cy="879567"/>
            </a:xfrm>
            <a:prstGeom prst="rect">
              <a:avLst/>
            </a:prstGeom>
            <a:gradFill rotWithShape="0">
              <a:gsLst>
                <a:gs pos="0">
                  <a:srgbClr val="D1D1D1">
                    <a:alpha val="100000"/>
                  </a:srgbClr>
                </a:gs>
                <a:gs pos="50000">
                  <a:srgbClr val="C7C7C7">
                    <a:alpha val="100000"/>
                  </a:srgbClr>
                </a:gs>
                <a:gs pos="100000">
                  <a:srgbClr val="C0C0C0">
                    <a:alpha val="100000"/>
                  </a:srgbClr>
                </a:gs>
              </a:gsLst>
              <a:lin ang="5400000"/>
              <a:tileRect/>
            </a:gradFill>
            <a:ln w="6350" cap="flat" cmpd="sng">
              <a:solidFill>
                <a:srgbClr val="A5A5A5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45720" tIns="45720" rIns="45720" bIns="45720" anchor="ctr" anchorCtr="0"/>
            <a:lstStyle/>
            <a:p>
              <a:pPr algn="ctr">
                <a:buNone/>
              </a:pPr>
              <a:endParaRPr baseline="0">
                <a:effectLst>
                  <a:outerShdw blurRad="38100" dist="38100" dir="2700000">
                    <a:srgbClr val="FFFFFF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  <p:sp>
          <p:nvSpPr>
            <p:cNvPr id="6158" name="Text Box 6157"/>
            <p:cNvSpPr txBox="1"/>
            <p:nvPr/>
          </p:nvSpPr>
          <p:spPr>
            <a:xfrm>
              <a:off x="48935" y="117168"/>
              <a:ext cx="1239904" cy="645227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45720" tIns="45720" rIns="45720" bIns="45720" anchor="ctr" anchorCtr="0">
              <a:spAutoFit/>
            </a:bodyPr>
            <a:lstStyle/>
            <a:p>
              <a:pPr algn="ctr">
                <a:buNone/>
              </a:pPr>
              <a:r>
                <a:rPr lang="en-US" altLang="zh-CN" baseline="0">
                  <a:effectLst>
                    <a:outerShdw blurRad="38100" dist="38100" dir="2700000">
                      <a:srgbClr val="C0C0C0"/>
                    </a:outerShdw>
                  </a:effectLst>
                  <a:latin typeface="Calibri" panose="020F0502020204030204" charset="0"/>
                  <a:ea typeface="+mn-ea"/>
                  <a:sym typeface="Calibri" panose="020F0502020204030204" charset="0"/>
                </a:rPr>
                <a:t>Interactive Interface</a:t>
              </a:r>
              <a:endParaRPr lang="en-US" altLang="zh-CN" baseline="0"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charset="0"/>
                <a:ea typeface="+mn-ea"/>
                <a:sym typeface="Calibri" panose="020F0502020204030204" charset="0"/>
              </a:endParaRPr>
            </a:p>
          </p:txBody>
        </p:sp>
      </p:grpSp>
      <p:sp>
        <p:nvSpPr>
          <p:cNvPr id="6159" name="Straight Connector 6158" descr="Straight Arrow Connector 11"/>
          <p:cNvSpPr/>
          <p:nvPr/>
        </p:nvSpPr>
        <p:spPr>
          <a:xfrm flipH="1">
            <a:off x="7702550" y="2995613"/>
            <a:ext cx="979488" cy="1157287"/>
          </a:xfrm>
          <a:prstGeom prst="line">
            <a:avLst/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45720" tIns="45720" rIns="45720" bIns="45720" anchor="t" anchorCtr="0"/>
          <a:lstStyle/>
          <a:p>
            <a:pPr>
              <a:buNone/>
            </a:pPr>
            <a:endParaRPr baseline="0">
              <a:latin typeface="Calibri" panose="020F0502020204030204" charset="0"/>
              <a:ea typeface="+mn-ea"/>
              <a:sym typeface="Calibri" panose="020F0502020204030204" charset="0"/>
            </a:endParaRPr>
          </a:p>
        </p:txBody>
      </p:sp>
      <p:sp>
        <p:nvSpPr>
          <p:cNvPr id="6160" name="Freeform 6159" descr="Straight Arrow Connector 13"/>
          <p:cNvSpPr/>
          <p:nvPr/>
        </p:nvSpPr>
        <p:spPr>
          <a:xfrm>
            <a:off x="9456738" y="2997200"/>
            <a:ext cx="0" cy="1152525"/>
          </a:xfrm>
          <a:custGeom>
            <a:avLst/>
            <a:gdLst/>
            <a:ahLst/>
            <a:cxnLst>
              <a:cxn ang="0">
                <a:pos x="10800" y="10800"/>
              </a:cxn>
              <a:cxn ang="0">
                <a:pos x="10800" y="10800"/>
              </a:cxn>
              <a:cxn ang="0">
                <a:pos x="10800" y="10800"/>
              </a:cxn>
              <a:cxn ang="0">
                <a:pos x="10800" y="10800"/>
              </a:cxn>
            </a:cxnLst>
            <a:rect l="0" t="0" r="0" b="0"/>
            <a:pathLst>
              <a:path w="21600" h="2160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noFill/>
          <a:ln w="6350" cap="flat" cmpd="sng">
            <a:solidFill>
              <a:schemeClr val="accent1">
                <a:alpha val="100000"/>
              </a:schemeClr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61" name="Straight Connector 6160" descr="Straight Arrow Connector 15"/>
          <p:cNvSpPr/>
          <p:nvPr/>
        </p:nvSpPr>
        <p:spPr>
          <a:xfrm>
            <a:off x="10266363" y="2995613"/>
            <a:ext cx="944562" cy="1157287"/>
          </a:xfrm>
          <a:prstGeom prst="line">
            <a:avLst/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45720" tIns="45720" rIns="45720" bIns="45720" anchor="t" anchorCtr="0"/>
          <a:lstStyle/>
          <a:p>
            <a:pPr>
              <a:buNone/>
            </a:pPr>
            <a:endParaRPr baseline="0">
              <a:latin typeface="Calibri" panose="020F0502020204030204" charset="0"/>
              <a:ea typeface="+mn-ea"/>
              <a:sym typeface="Calibri" panose="020F050202020403020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9216" descr="Title 1"/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812800"/>
          </a:xfrm>
        </p:spPr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Problem statement</a:t>
            </a:r>
            <a:endParaRPr lang="en-US" altLang="zh-CN" sz="4000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9218" name="Text Box 9217" descr="Content Placeholder 2"/>
          <p:cNvSpPr txBox="1"/>
          <p:nvPr/>
        </p:nvSpPr>
        <p:spPr>
          <a:xfrm>
            <a:off x="695325" y="1268095"/>
            <a:ext cx="10423525" cy="102489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t" anchorCtr="0"/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To enhance the user experience on an online book-selling platform by providing an AI-powered chatbot that answers questions related to specific books, helping users make informed purchase decisions.</a:t>
            </a:r>
            <a:endParaRPr lang="en-US" altLang="en-US" sz="18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20115" y="2708910"/>
            <a:ext cx="6291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Objectives to be acheived :</a:t>
            </a:r>
            <a:endParaRPr lang="en-US" sz="4000"/>
          </a:p>
        </p:txBody>
      </p:sp>
      <p:sp>
        <p:nvSpPr>
          <p:cNvPr id="3" name="Text Box 2"/>
          <p:cNvSpPr txBox="1"/>
          <p:nvPr/>
        </p:nvSpPr>
        <p:spPr>
          <a:xfrm>
            <a:off x="1100455" y="3608705"/>
            <a:ext cx="10071100" cy="1593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To enhance user satisfaction and loyalty. </a:t>
            </a:r>
            <a:endParaRPr lang="en-US" altLang="en-US" sz="180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To offer secure payment methods for the security of customers. </a:t>
            </a:r>
            <a:endParaRPr lang="en-US" altLang="en-US" sz="180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To collect user feedback and data. </a:t>
            </a:r>
            <a:endParaRPr lang="en-US" altLang="en-US" sz="180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7168" descr="Title 2"/>
          <p:cNvSpPr>
            <a:spLocks noGrp="1"/>
          </p:cNvSpPr>
          <p:nvPr>
            <p:ph type="title"/>
          </p:nvPr>
        </p:nvSpPr>
        <p:spPr>
          <a:xfrm>
            <a:off x="739775" y="8255"/>
            <a:ext cx="4385945" cy="648335"/>
          </a:xfrm>
        </p:spPr>
        <p:txBody>
          <a:bodyPr vert="horz" wrap="square" lIns="45720" tIns="45720" rIns="45720" bIns="45720" anchor="ctr" anchorCtr="0">
            <a:normAutofit fontScale="90000"/>
          </a:bodyPr>
          <a:lstStyle/>
          <a:p>
            <a:pPr>
              <a:buNone/>
            </a:pPr>
            <a:r>
              <a:rPr lang="en-US" altLang="zh-CN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Literature Survey</a:t>
            </a:r>
            <a:endParaRPr lang="en-US" altLang="zh-CN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1174115" y="574040"/>
          <a:ext cx="10537825" cy="734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010"/>
                <a:gridCol w="2421255"/>
                <a:gridCol w="937260"/>
                <a:gridCol w="2190115"/>
                <a:gridCol w="4147185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Sr no.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Title of papers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Year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Authors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Findings</a:t>
                      </a:r>
                      <a:endParaRPr lang="en-US"/>
                    </a:p>
                  </a:txBody>
                  <a:tcPr/>
                </a:tc>
              </a:tr>
              <a:tr h="2042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1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Book Recommendation System Based on Combine</a:t>
                      </a:r>
                      <a:endParaRPr lang="en-US" sz="1600"/>
                    </a:p>
                    <a:p>
                      <a:pPr>
                        <a:buNone/>
                      </a:pPr>
                      <a:r>
                        <a:rPr lang="en-US" sz="1600"/>
                        <a:t>Features of Content Based Filtering, Collaborative</a:t>
                      </a:r>
                      <a:endParaRPr lang="en-US" sz="1600"/>
                    </a:p>
                    <a:p>
                      <a:pPr>
                        <a:buNone/>
                      </a:pPr>
                      <a:r>
                        <a:rPr lang="en-US" sz="1600"/>
                        <a:t>Filtering and Association Rule Mining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2020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Tewari, A. S., Kumar, A., &amp; Barman. 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We will incorporate the research from this paper into our book-selling platform to enhance its performance by leveraging their findings on the book market, improving recommendation accuracy and user experience.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1554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2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600"/>
                        <a:t> Design and Evaluation of Interactive Learning</a:t>
                      </a:r>
                      <a:endParaRPr lang="en-US" sz="1600"/>
                    </a:p>
                    <a:p>
                      <a:pPr algn="l">
                        <a:buNone/>
                      </a:pPr>
                      <a:r>
                        <a:rPr lang="en-US" sz="1600"/>
                        <a:t>Story and User Interface Prototyping for Mobile</a:t>
                      </a:r>
                      <a:endParaRPr lang="en-US" sz="1600"/>
                    </a:p>
                    <a:p>
                      <a:pPr algn="l">
                        <a:buNone/>
                      </a:pPr>
                      <a:r>
                        <a:rPr lang="en-US" sz="1600"/>
                        <a:t>Responsive Learning Application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2021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Phunkaew, T., Phandan, C., &amp; Wongwatkit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In this research paper the authors have written about the Interactive User Interface. And from the research paper we will implement the interactive interface in our project.  </a:t>
                      </a:r>
                      <a:endParaRPr lang="en-US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" name="Table 1"/>
          <p:cNvGraphicFramePr/>
          <p:nvPr>
            <p:custDataLst>
              <p:tags r:id="rId2"/>
            </p:custDataLst>
          </p:nvPr>
        </p:nvGraphicFramePr>
        <p:xfrm>
          <a:off x="1174115" y="4824095"/>
          <a:ext cx="10537825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255"/>
                <a:gridCol w="2388870"/>
                <a:gridCol w="907415"/>
                <a:gridCol w="2192020"/>
                <a:gridCol w="4152265"/>
              </a:tblGrid>
              <a:tr h="1066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3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E-payment Gateway Model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2022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Anuja Pande , Prof. A.B. Deshmukh , Prof.M. D. Tambakhe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This research paper is about E-payment gateway model. From this research paper we have learned to implement a payment gateway.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875030" y="1223645"/>
          <a:ext cx="9478645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1967230"/>
                <a:gridCol w="1353820"/>
                <a:gridCol w="2188210"/>
                <a:gridCol w="3440430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Sr no.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Title of papers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Year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Author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Findings</a:t>
                      </a:r>
                      <a:endParaRPr lang="en-US"/>
                    </a:p>
                  </a:txBody>
                  <a:tcPr/>
                </a:tc>
              </a:tr>
              <a:tr h="13106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4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Implementing a chatbot in a library website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2023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Michelle Ehrenpreis </a:t>
                      </a:r>
                      <a:endParaRPr lang="en-US" sz="1600"/>
                    </a:p>
                    <a:p>
                      <a:pPr>
                        <a:buNone/>
                      </a:pPr>
                      <a:r>
                        <a:rPr lang="en-US" sz="1600"/>
                        <a:t>John P. DeLooper </a:t>
                      </a:r>
                      <a:endParaRPr lang="en-US" sz="1600"/>
                    </a:p>
                    <a:p>
                      <a:pPr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This research paper is about implementing and training a chatbot for the personal library. From this we will apply a chatbot learning capability in our project.</a:t>
                      </a:r>
                      <a:endParaRPr lang="en-US" sz="1600"/>
                    </a:p>
                  </a:txBody>
                  <a:tcPr/>
                </a:tc>
              </a:tr>
              <a:tr h="13106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5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Detecting Product Review Spammers using Rating Behaviors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2024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Lim, E.P., Nguyen, V.A., Jindal, N., Liu, B. and Lauw, H.W.,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From this research paper authors are able to detect product review spammers using rating behaviors. And from this research paper we will implement review and rating feature.</a:t>
                      </a:r>
                      <a:endParaRPr 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9216" descr="Title 1"/>
          <p:cNvSpPr>
            <a:spLocks noGrp="1"/>
          </p:cNvSpPr>
          <p:nvPr>
            <p:ph type="title"/>
          </p:nvPr>
        </p:nvSpPr>
        <p:spPr>
          <a:xfrm>
            <a:off x="838200" y="81280"/>
            <a:ext cx="10515600" cy="1152525"/>
          </a:xfrm>
        </p:spPr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203864"/>
                </a:solidFill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Applications</a:t>
            </a:r>
            <a:endParaRPr lang="en-US" altLang="zh-CN" sz="4000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415415" y="1538605"/>
            <a:ext cx="9582785" cy="4636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sz="2000" b="1"/>
              <a:t>Library:   </a:t>
            </a:r>
            <a:r>
              <a:rPr lang="en-US" sz="2000"/>
              <a:t> Our book selling website can be used by various libraries to buy antique books and ancient books of readers choice.</a:t>
            </a: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  <a:p>
            <a:pPr marL="342900" indent="-342900">
              <a:buAutoNum type="arabicPeriod"/>
            </a:pPr>
            <a:r>
              <a:rPr lang="en-US" sz="2000" b="1"/>
              <a:t>Students: </a:t>
            </a:r>
            <a:r>
              <a:rPr lang="en-US" sz="2000">
                <a:sym typeface="+mn-ea"/>
              </a:rPr>
              <a:t>Our book selling website can help some of the students which are upcoming aspirants of MPSC or UPSC as our website will also contain educational books.</a:t>
            </a:r>
            <a:endParaRPr lang="en-US" sz="2000">
              <a:sym typeface="+mn-ea"/>
            </a:endParaRPr>
          </a:p>
          <a:p>
            <a:pPr marL="342900" indent="-342900">
              <a:buAutoNum type="arabicPeriod"/>
            </a:pPr>
            <a:endParaRPr lang="en-US" sz="2000" b="1"/>
          </a:p>
          <a:p>
            <a:pPr marL="342900" indent="-342900">
              <a:buAutoNum type="arabicPeriod"/>
            </a:pPr>
            <a:r>
              <a:rPr lang="en-US" sz="2000" b="1"/>
              <a:t>Books readers: </a:t>
            </a:r>
            <a:r>
              <a:rPr lang="en-US" sz="2000">
                <a:sym typeface="+mn-ea"/>
              </a:rPr>
              <a:t>Our book selling website will also be usefull for the book readers who are book lovers and loves to read all kind of books.</a:t>
            </a:r>
            <a:endParaRPr lang="en-US" sz="2000">
              <a:sym typeface="+mn-ea"/>
            </a:endParaRPr>
          </a:p>
          <a:p>
            <a:endParaRPr lang="en-US" sz="2000" b="1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9216" descr="Title 1"/>
          <p:cNvSpPr>
            <a:spLocks noGrp="1"/>
          </p:cNvSpPr>
          <p:nvPr>
            <p:ph type="title"/>
          </p:nvPr>
        </p:nvSpPr>
        <p:spPr>
          <a:xfrm>
            <a:off x="838200" y="81280"/>
            <a:ext cx="10515600" cy="1152525"/>
          </a:xfrm>
        </p:spPr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203864"/>
                </a:solidFill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Hardware and Software requirements </a:t>
            </a:r>
            <a:endParaRPr lang="en-US" altLang="zh-CN" sz="4000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5370" y="1358265"/>
            <a:ext cx="9582785" cy="46361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>
              <a:buFont typeface="Arial" panose="020B0604020202020204" pitchFamily="34" charset="0"/>
            </a:pPr>
            <a:r>
              <a:rPr lang="en-US" sz="2800" b="1"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Software requirements:</a:t>
            </a:r>
            <a:endParaRPr lang="en-US" sz="2800" b="1"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MySQL for database.</a:t>
            </a:r>
            <a:endParaRPr 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PHP for server side scripting.</a:t>
            </a:r>
            <a:endParaRPr 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JavaScript for user interface.</a:t>
            </a:r>
            <a:endParaRPr 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 API for payment integration. </a:t>
            </a:r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  <a:endParaRPr 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buFont typeface="Arial" panose="020B0604020202020204" pitchFamily="34" charset="0"/>
            </a:pPr>
            <a:endParaRPr 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buFont typeface="Arial" panose="020B0604020202020204" pitchFamily="34" charset="0"/>
            </a:pPr>
            <a:r>
              <a:rPr lang="en-US" sz="2800" b="1"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Hardware requirements:</a:t>
            </a:r>
            <a:endParaRPr lang="en-US" sz="2800" b="1"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Processor:</a:t>
            </a:r>
            <a:r>
              <a:rPr lang="en-US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Minimum i5 processor.</a:t>
            </a:r>
            <a:endParaRPr lang="en-US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RAM: 8 GB or higher.</a:t>
            </a:r>
            <a:endParaRPr lang="en-US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Network: Good internet connection with low latency (minimum 100 kbps)</a:t>
            </a:r>
            <a:endParaRPr lang="en-US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Operating System: Linux (Ubuntu/CentOS) or Windows .</a:t>
            </a:r>
            <a:endParaRPr lang="en-US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2288" descr="Title 1"/>
          <p:cNvSpPr>
            <a:spLocks noGrp="1"/>
          </p:cNvSpPr>
          <p:nvPr>
            <p:ph type="title"/>
          </p:nvPr>
        </p:nvSpPr>
        <p:spPr>
          <a:xfrm>
            <a:off x="875030" y="-127000"/>
            <a:ext cx="10515600" cy="1325563"/>
          </a:xfrm>
        </p:spPr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Block Diagram</a:t>
            </a:r>
            <a:endParaRPr lang="en-US" altLang="zh-CN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92020" y="2660015"/>
            <a:ext cx="6028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hlinkClick r:id="rId1" action="ppaction://hlinkfile"/>
              </a:rPr>
              <a:t>https://drive.google.com/file/d/1TlyLS4BK98wN9UUWN3zDzLeh2W1tYxAY/view?usp=drive_link</a:t>
            </a:r>
            <a:endParaRPr 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9219" descr="TextBox 6"/>
          <p:cNvSpPr txBox="1"/>
          <p:nvPr/>
        </p:nvSpPr>
        <p:spPr>
          <a:xfrm>
            <a:off x="1055370" y="1628140"/>
            <a:ext cx="10200005" cy="424815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t" anchorCtr="0">
            <a:noAutofit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en-US" altLang="zh-CN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Step 1</a:t>
            </a:r>
            <a:r>
              <a:rPr lang="en-US" altLang="zh-CN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: User will register himself on our platform.</a:t>
            </a:r>
            <a:endParaRPr lang="en-US" altLang="zh-CN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Step 2</a:t>
            </a:r>
            <a:r>
              <a:rPr lang="en-US" altLang="zh-CN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: User will see the homepage where all books will be listed according to there generes.</a:t>
            </a:r>
            <a:endParaRPr lang="en-US" altLang="zh-CN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Step 3</a:t>
            </a:r>
            <a:r>
              <a:rPr lang="en-US" altLang="zh-CN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: The books and data will be fetched from the database, the user can also interact with chatbot to know more about the book.</a:t>
            </a:r>
            <a:endParaRPr lang="en-US" altLang="zh-CN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Step 4</a:t>
            </a:r>
            <a:r>
              <a:rPr lang="en-US" altLang="zh-CN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: If user wants to buy the book he/her will click on the add to cart button, the book will be added to the cart and user will be redirected to the cart page.</a:t>
            </a:r>
            <a:endParaRPr lang="en-US" altLang="zh-CN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Step 5</a:t>
            </a:r>
            <a:r>
              <a:rPr lang="en-US" altLang="zh-CN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: Then after clicking on checkout page, user will be asked for his/her address and all.</a:t>
            </a:r>
            <a:endParaRPr lang="en-US" altLang="zh-CN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Step 6</a:t>
            </a:r>
            <a:r>
              <a:rPr lang="en-US" altLang="zh-CN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: Finally the payment gateway comes, user will do the payment.</a:t>
            </a:r>
            <a:endParaRPr lang="en-US" altLang="zh-CN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1900" b="1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Step 7</a:t>
            </a:r>
            <a:r>
              <a:rPr lang="en-US" altLang="zh-CN" sz="1900" baseline="0"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: The user’s selected book will be processed for the delivery after payment is done.</a:t>
            </a:r>
            <a:endParaRPr lang="en-US" altLang="zh-CN" sz="1900" baseline="0">
              <a:latin typeface="Times New Roman" panose="02020603050405020304" charset="0"/>
              <a:ea typeface="+mn-ea"/>
              <a:cs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5370" y="7283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en-US" sz="2800" b="1"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Block Diagram explaination:</a:t>
            </a:r>
            <a:endParaRPr lang="en-US" sz="2800" b="1"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3312" descr="Title 1"/>
          <p:cNvSpPr>
            <a:spLocks noGrp="1"/>
          </p:cNvSpPr>
          <p:nvPr>
            <p:ph type="title"/>
          </p:nvPr>
        </p:nvSpPr>
        <p:spPr>
          <a:xfrm>
            <a:off x="920115" y="414020"/>
            <a:ext cx="10515600" cy="849630"/>
          </a:xfrm>
        </p:spPr>
        <p:txBody>
          <a:bodyPr vert="horz" wrap="square" lIns="45720" tIns="45720" rIns="45720" bIns="45720" anchor="ctr" anchorCtr="0">
            <a:normAutofit/>
          </a:bodyPr>
          <a:lstStyle/>
          <a:p>
            <a:pPr>
              <a:buNone/>
            </a:pPr>
            <a:r>
              <a:rPr lang="en-US" altLang="zh-CN" b="1" dirty="0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Methodology</a:t>
            </a:r>
            <a:endParaRPr lang="en-US" altLang="zh-CN" b="1" dirty="0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45540" y="1358265"/>
            <a:ext cx="10025380" cy="4926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sz="2000" b="1"/>
              <a:t>Choosing a suitable technology stack: </a:t>
            </a:r>
            <a:r>
              <a:rPr lang="en-US"/>
              <a:t>We will be selecting appropriate programming languages, frameworks, and databases that are efficient, scalable, and secure.</a:t>
            </a:r>
            <a:endParaRPr lang="en-US"/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r>
              <a:rPr lang="en-US" sz="2000" b="1"/>
              <a:t>Designing the user interface: </a:t>
            </a:r>
            <a:r>
              <a:rPr lang="en-US" sz="1800">
                <a:sym typeface="+mn-ea"/>
              </a:rPr>
              <a:t>We will be creating</a:t>
            </a:r>
            <a:r>
              <a:rPr lang="en-US" sz="1800"/>
              <a:t> a user-friendly and intuitive interface that allows easy navigation and browsing.</a:t>
            </a:r>
            <a:endParaRPr lang="en-US" sz="1800"/>
          </a:p>
          <a:p>
            <a:pPr marL="342900" indent="-342900">
              <a:buAutoNum type="arabicPeriod"/>
            </a:pPr>
            <a:endParaRPr lang="en-US" sz="1800"/>
          </a:p>
          <a:p>
            <a:pPr marL="342900" indent="-342900">
              <a:buAutoNum type="arabicPeriod"/>
            </a:pPr>
            <a:r>
              <a:rPr lang="en-US" sz="2000" b="1"/>
              <a:t>Developing the book database: </a:t>
            </a:r>
            <a:r>
              <a:rPr lang="en-US" sz="1800"/>
              <a:t>Then our next task will be to structure database to store information about books, including titles, authors, genres, descriptions, prices, and availability.</a:t>
            </a:r>
            <a:endParaRPr lang="en-US" sz="1800"/>
          </a:p>
          <a:p>
            <a:pPr marL="342900" indent="-342900">
              <a:buAutoNum type="arabicPeriod"/>
            </a:pPr>
            <a:endParaRPr lang="en-US" sz="1800"/>
          </a:p>
          <a:p>
            <a:pPr marL="342900" indent="-342900">
              <a:buAutoNum type="arabicPeriod"/>
            </a:pPr>
            <a:r>
              <a:rPr lang="en-US" sz="2000" b="1"/>
              <a:t>Integrating personalized chatbots: </a:t>
            </a:r>
            <a:r>
              <a:rPr lang="en-US" sz="1800"/>
              <a:t>Then we will develop or integrate a chatbot system that can be associated with each book and provide personalized recommendations and information.</a:t>
            </a:r>
            <a:endParaRPr lang="en-US" sz="1800"/>
          </a:p>
          <a:p>
            <a:pPr marL="342900" indent="-342900">
              <a:buAutoNum type="arabicPeriod"/>
            </a:pPr>
            <a:endParaRPr lang="en-US" sz="1800"/>
          </a:p>
          <a:p>
            <a:pPr marL="342900" indent="-342900">
              <a:buAutoNum type="arabicPeriod"/>
            </a:pPr>
            <a:r>
              <a:rPr lang="en-US" sz="2000" b="1"/>
              <a:t>Training a chatbot for each book: </a:t>
            </a:r>
            <a:r>
              <a:rPr lang="en-US" sz="1800"/>
              <a:t>Then we will train the chatbot to provide information about specific book.</a:t>
            </a:r>
            <a:endParaRPr lang="en-US" sz="1800"/>
          </a:p>
          <a:p>
            <a:pPr marL="342900" indent="-342900">
              <a:buAutoNum type="arabicPeriod"/>
            </a:pPr>
            <a:endParaRPr lang="en-US" sz="1800"/>
          </a:p>
          <a:p>
            <a:pPr marL="342900" indent="-342900">
              <a:buAutoNum type="arabicPeriod"/>
            </a:pPr>
            <a:r>
              <a:rPr lang="en-US" sz="2000" b="1"/>
              <a:t>Selecting a secure payment gateway: </a:t>
            </a:r>
            <a:r>
              <a:rPr lang="en-US" sz="1800"/>
              <a:t>Our final task will be to select a appropriate and affordable payment gateway.</a:t>
            </a:r>
            <a:endParaRPr lang="en-US" sz="180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05155" y="5035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 altLang="zh-CN" sz="3600" b="1" dirty="0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Screen shots of project</a:t>
            </a:r>
            <a:endParaRPr lang="en-US" altLang="zh-CN" sz="3600" b="1" dirty="0">
              <a:solidFill>
                <a:srgbClr val="203864"/>
              </a:solidFill>
              <a:latin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</p:txBody>
      </p:sp>
      <p:pic>
        <p:nvPicPr>
          <p:cNvPr id="9" name="Picture 8" descr="WhatsApp Image 2025-05-01 at 9.34.2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00" y="2483485"/>
            <a:ext cx="8533765" cy="367855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829945" y="1808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Books with generes mentioned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5-01 at 9.34.1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493520"/>
            <a:ext cx="9788525" cy="43459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5-01 at 9.34.0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330" y="998220"/>
            <a:ext cx="9738995" cy="45421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5-01 at 9.33.5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85" y="998220"/>
            <a:ext cx="10339705" cy="48882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5-08 at 10.07.2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53340"/>
            <a:ext cx="11496040" cy="6694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5-08 at 10.07.45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" y="98425"/>
            <a:ext cx="11837035" cy="66770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5-08 at 10.08.22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" y="413385"/>
            <a:ext cx="119380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Placeholder 15360" descr="Content Placeholder 2"/>
          <p:cNvSpPr>
            <a:spLocks noGrp="1"/>
          </p:cNvSpPr>
          <p:nvPr>
            <p:ph type="body" idx="1"/>
          </p:nvPr>
        </p:nvSpPr>
        <p:spPr>
          <a:xfrm>
            <a:off x="923925" y="1448435"/>
            <a:ext cx="10198735" cy="4572635"/>
          </a:xfrm>
        </p:spPr>
        <p:txBody>
          <a:bodyPr vert="horz" wrap="square" lIns="45720" tIns="45720" rIns="45720" bIns="45720" anchor="t" anchorCtr="0">
            <a:normAutofit/>
          </a:bodyPr>
          <a:lstStyle/>
          <a:p>
            <a:pPr marL="0" indent="0">
              <a:lnSpc>
                <a:spcPct val="130000"/>
              </a:lnSpc>
              <a:spcAft>
                <a:spcPts val="0"/>
              </a:spcAft>
              <a:buSzTx/>
              <a:buNone/>
            </a:pPr>
            <a:r>
              <a:rPr lang="en-US" altLang="en-US" sz="19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Future work:</a:t>
            </a:r>
            <a:endParaRPr lang="en-US" altLang="en-US" sz="19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30000"/>
              </a:lnSpc>
              <a:spcAft>
                <a:spcPts val="0"/>
              </a:spcAft>
              <a:buSzTx/>
              <a:buAutoNum type="arabicPeriod"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ln future we are willing to make whole process of books fetching with recommendation automatic using AI automation.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lnSpc>
                <a:spcPct val="130000"/>
              </a:lnSpc>
              <a:spcAft>
                <a:spcPts val="0"/>
              </a:spcAft>
              <a:buSzTx/>
              <a:buAutoNum type="arabicPeriod"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will also add the cookies future to show the book recomendation according to users search history.</a:t>
            </a:r>
            <a:endParaRPr lang="en-US" altLang="en-US" sz="19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30000"/>
              </a:lnSpc>
              <a:spcAft>
                <a:spcPts val="0"/>
              </a:spcAft>
              <a:buSzTx/>
              <a:buNone/>
            </a:pPr>
            <a:endParaRPr lang="en-US" altLang="en-US" sz="19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30000"/>
              </a:lnSpc>
              <a:spcAft>
                <a:spcPts val="0"/>
              </a:spcAft>
              <a:buSzTx/>
              <a:buNone/>
            </a:pPr>
            <a:r>
              <a:rPr lang="en-US" altLang="en-US" sz="19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Conclusion:</a:t>
            </a: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We have created an advanced book marketplace with smart technology, an easy-to-use interface, a large book collection, helpful chatbots, and safe payment options. This platform will make buying books simple and fun, catering to different reader needs. 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362" name="Text Box 15361" descr="Title 1"/>
          <p:cNvSpPr txBox="1"/>
          <p:nvPr/>
        </p:nvSpPr>
        <p:spPr>
          <a:xfrm>
            <a:off x="923925" y="233503"/>
            <a:ext cx="10425113" cy="132556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45720" tIns="45720" rIns="45720" bIns="45720" anchor="ctr" anchorCtr="0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CN" sz="4400" b="1" baseline="0" dirty="0">
                <a:solidFill>
                  <a:srgbClr val="203864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Times New Roman" panose="02020603050405020304" charset="0"/>
              </a:rPr>
              <a:t>Future work and conclusion</a:t>
            </a:r>
            <a:endParaRPr lang="en-US" altLang="zh-CN" sz="4400" b="1" baseline="0" dirty="0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4336" descr="Title 1"/>
          <p:cNvSpPr>
            <a:spLocks noGrp="1"/>
          </p:cNvSpPr>
          <p:nvPr>
            <p:ph type="title"/>
          </p:nvPr>
        </p:nvSpPr>
        <p:spPr>
          <a:xfrm>
            <a:off x="838200" y="265113"/>
            <a:ext cx="10515600" cy="669925"/>
          </a:xfrm>
        </p:spPr>
        <p:txBody>
          <a:bodyPr vert="horz" wrap="square" lIns="45720" tIns="45720" rIns="45720" bIns="45720" anchor="ctr" anchorCtr="0">
            <a:normAutofit/>
          </a:bodyPr>
          <a:lstStyle/>
          <a:p>
            <a:pPr algn="ctr">
              <a:buNone/>
            </a:pPr>
            <a:r>
              <a:rPr lang="en-US" altLang="zh-CN" sz="3900" b="1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References</a:t>
            </a:r>
            <a:endParaRPr lang="en-US" altLang="zh-CN" sz="3900" b="1">
              <a:solidFill>
                <a:srgbClr val="203864"/>
              </a:solidFill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14338" name="Text Placeholder 14337" descr="Content Placeholder 2"/>
          <p:cNvSpPr>
            <a:spLocks noGrp="1"/>
          </p:cNvSpPr>
          <p:nvPr>
            <p:ph type="body" idx="1"/>
          </p:nvPr>
        </p:nvSpPr>
        <p:spPr>
          <a:xfrm>
            <a:off x="258763" y="1122363"/>
            <a:ext cx="11198225" cy="5133975"/>
          </a:xfrm>
        </p:spPr>
        <p:txBody>
          <a:bodyPr vert="horz" wrap="square" lIns="45720" tIns="45720" rIns="45720" bIns="45720" anchor="t" anchorCtr="0">
            <a:normAutofit lnSpcReduction="20000"/>
          </a:bodyPr>
          <a:lstStyle/>
          <a:p>
            <a:pPr marL="457200" indent="-457200" algn="just">
              <a:buSzTx/>
              <a:buAutoNum type="arabicPeriod"/>
            </a:pPr>
            <a:r>
              <a:rPr lang="en-US" altLang="en-US" sz="200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Zhang, Y., &amp; Benyoucef, M. (2021). The impact of artificial intelligence on online customer service: Evidence from China. Electronic Commerce Research and Applications, 47, 101053.</a:t>
            </a: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r>
              <a:rPr lang="en-US" altLang="zh-CN" sz="200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Tewari, A. S., Kumar, A., &amp; Barman, A. G. (2014). Book recommendation system based on combine features of content based filtering, collaborative filtering and association rule mining. 2014 IEEE International Advance Computing Conference (IACC). doi:10.1109/iadcc.2014.6779375</a:t>
            </a:r>
            <a:endParaRPr lang="en-US" altLang="zh-CN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zh-CN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r>
              <a:rPr lang="en-US" altLang="en-US" sz="200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Davenport, T. H., Guha, A., Grewal, D., &amp; Bressgott, T. (2020). How artificial intelligence is transforming marketing. Journal of Advertising Research, 60(1), 4-20.</a:t>
            </a: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r>
              <a:rPr lang="en-US" altLang="en-US" sz="200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Lee, J. S., Dabirian, A., McCarthy, I. P., &amp; Kietzmann, J. (2020). The effect of artificial intelligence on online consumer behavior: A conceptual framework. Internet Research, 30(4), 1207-1224.</a:t>
            </a: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r>
              <a:rPr lang="en-US" altLang="en-US" sz="2000">
                <a:latin typeface="Times New Roman" panose="02020603050405020304" charset="0"/>
                <a:ea typeface="Times New Roman" panose="02020603050405020304" charset="0"/>
                <a:sym typeface="Times New Roman" panose="02020603050405020304" charset="0"/>
              </a:rPr>
              <a:t>Michelle Ehrenpreis and John P. DeLooper, "Implementing a chatbot on a library website," Journal of Web Librarianship 16.2 (2022): 120-142.</a:t>
            </a: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en-US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  <a:p>
            <a:pPr marL="457200" indent="-457200" algn="just">
              <a:buSzTx/>
              <a:buAutoNum type="arabicPeriod"/>
            </a:pPr>
            <a:endParaRPr lang="en-US" altLang="zh-CN" sz="2000">
              <a:latin typeface="Times New Roman" panose="02020603050405020304" charset="0"/>
              <a:ea typeface="Times New Roman" panose="02020603050405020304" charset="0"/>
              <a:sym typeface="Times New Roman" panose="02020603050405020304" charset="0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Placeholder 16384" descr="Content Placeholder 2"/>
          <p:cNvSpPr>
            <a:spLocks noGrp="1"/>
          </p:cNvSpPr>
          <p:nvPr>
            <p:ph type="body" idx="1"/>
          </p:nvPr>
        </p:nvSpPr>
        <p:spPr>
          <a:xfrm>
            <a:off x="695325" y="1448118"/>
            <a:ext cx="10515600" cy="4351337"/>
          </a:xfrm>
        </p:spPr>
        <p:txBody>
          <a:bodyPr vert="horz" wrap="square" lIns="45720" tIns="45720" rIns="45720" bIns="45720" anchor="t" anchorCtr="0">
            <a:normAutofit/>
          </a:bodyPr>
          <a:lstStyle/>
          <a:p>
            <a:pPr marL="0" indent="0">
              <a:buSzTx/>
              <a:buNone/>
            </a:pPr>
            <a:endParaRPr lang="en-US" altLang="zh-CN"/>
          </a:p>
          <a:p>
            <a:pPr marL="0" indent="0" algn="ctr">
              <a:buSzTx/>
              <a:buNone/>
            </a:pPr>
            <a:r>
              <a:rPr lang="en-US" altLang="zh-CN" sz="6600">
                <a:latin typeface="Algerian" panose="04020705040A02060702" charset="0"/>
                <a:cs typeface="Algerian" panose="04020705040A02060702" charset="0"/>
                <a:sym typeface="Algerian" panose="04020705040A02060702" charset="0"/>
              </a:rPr>
              <a:t>Thank You!!</a:t>
            </a:r>
            <a:endParaRPr lang="en-US" altLang="zh-CN" sz="6600">
              <a:latin typeface="Algerian" panose="04020705040A02060702" charset="0"/>
              <a:cs typeface="Algerian" panose="04020705040A02060702" charset="0"/>
              <a:sym typeface="Algerian" panose="04020705040A02060702" charset="0"/>
            </a:endParaRPr>
          </a:p>
          <a:p>
            <a:pPr marL="0" indent="0" algn="ctr">
              <a:buSzTx/>
              <a:buNone/>
            </a:pPr>
            <a:r>
              <a:rPr lang="en-US" altLang="zh-CN" sz="6600">
                <a:latin typeface="Algerian" panose="04020705040A02060702" charset="0"/>
                <a:ea typeface="Algerian" panose="04020705040A02060702" charset="0"/>
                <a:sym typeface="Algerian" panose="04020705040A02060702" charset="0"/>
              </a:rPr>
              <a:t>Any Questions??</a:t>
            </a:r>
            <a:endParaRPr lang="en-US" altLang="zh-CN" sz="6600">
              <a:latin typeface="Algerian" panose="04020705040A02060702" charset="0"/>
              <a:ea typeface="Algerian" panose="04020705040A02060702" charset="0"/>
              <a:sym typeface="Algerian" panose="04020705040A02060702" charset="0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ABLE_ENDDRAG_ORIGIN_RECT" val="655*460"/>
  <p:tag name="TABLE_ENDDRAG_RECT" val="19*51*655*460"/>
</p:tagLst>
</file>

<file path=ppt/tags/tag2.xml><?xml version="1.0" encoding="utf-8"?>
<p:tagLst xmlns:p="http://schemas.openxmlformats.org/presentationml/2006/main">
  <p:tag name="TABLE_ENDDRAG_ORIGIN_RECT" val="829*84"/>
  <p:tag name="TABLE_ENDDRAG_RECT" val="92*379*829*84"/>
</p:tagLst>
</file>

<file path=ppt/tags/tag3.xml><?xml version="1.0" encoding="utf-8"?>
<p:tagLst xmlns:p="http://schemas.openxmlformats.org/presentationml/2006/main">
  <p:tag name="TABLE_ENDDRAG_ORIGIN_RECT" val="746*322"/>
  <p:tag name="TABLE_ENDDRAG_RECT" val="68*96*746*322"/>
</p:tagLst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4702B"/>
      </a:accent6>
      <a:hlink>
        <a:srgbClr val="0000FF"/>
      </a:hlink>
      <a:folHlink>
        <a:srgbClr val="FF00FF"/>
      </a:folHlink>
    </a:clrScheme>
    <a:fontScheme name="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4702B"/>
      </a:accent6>
      <a:hlink>
        <a:srgbClr val="0000FF"/>
      </a:hlink>
      <a:folHlink>
        <a:srgbClr val="FF00FF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7598</Words>
  <Application>WPS Presentation</Application>
  <PresentationFormat>Widescreen</PresentationFormat>
  <Paragraphs>225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Calibri Light</vt:lpstr>
      <vt:lpstr>Times New Roman</vt:lpstr>
      <vt:lpstr>Segoe UI Semibold</vt:lpstr>
      <vt:lpstr>Algerian</vt:lpstr>
      <vt:lpstr>Gabriola</vt:lpstr>
      <vt:lpstr>Microsoft YaHei</vt:lpstr>
      <vt:lpstr>Arial Unicode MS</vt:lpstr>
      <vt:lpstr>Office Theme</vt:lpstr>
      <vt:lpstr>PowerPoint 演示文稿</vt:lpstr>
      <vt:lpstr>Index</vt:lpstr>
      <vt:lpstr>Introduction</vt:lpstr>
      <vt:lpstr>What Is AI Powered Book Marketplace?</vt:lpstr>
      <vt:lpstr>Problem statement</vt:lpstr>
      <vt:lpstr>Literature Survey</vt:lpstr>
      <vt:lpstr>PowerPoint 演示文稿</vt:lpstr>
      <vt:lpstr>Applications</vt:lpstr>
      <vt:lpstr>Hardware and Software requirements </vt:lpstr>
      <vt:lpstr>Block Diagram</vt:lpstr>
      <vt:lpstr>PowerPoint 演示文稿</vt:lpstr>
      <vt:lpstr>Methodology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Hari Sharma</cp:lastModifiedBy>
  <cp:revision>36</cp:revision>
  <dcterms:created xsi:type="dcterms:W3CDTF">2024-09-26T18:20:00Z</dcterms:created>
  <dcterms:modified xsi:type="dcterms:W3CDTF">2025-11-28T14:31:02Z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1D55C97D78A94B3684F5A458A17F103F_12</vt:lpwstr>
  </property>
  <property fmtid="{D5CDD505-2E9C-101B-9397-08002B2CF9AE}" pid="3" name="KSOProductBuildVer">
    <vt:lpwstr>1033-12.2.0.23155</vt:lpwstr>
  </property>
</Properties>
</file>